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YQ\.trae-cn\work\6a269d53f16f7a4a5bd8b280\cover_bg_1920x108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097280" y="1463040"/>
            <a:ext cx="73152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1097280" y="160020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400" b="1" spc="3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Tracero · 智循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097280" y="24688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spc="5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自动化行为归因分析系统 — 让每条结论都有据可查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3017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面向自动驾驶与机器人领域的智能异常分析平台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11D33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47320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项目计划书  |  2026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98755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261872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简介、背景与核心痛点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627632"/>
            <a:ext cx="822960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755648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55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1737360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技术方案与核心创新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011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系统架构、实施方案与创新点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822960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505456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505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248716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研究计划与预期成果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43000" y="27614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五阶段推进路线与交付物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127248"/>
            <a:ext cx="822960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255264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55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43000" y="32369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硬件预算与团队分工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43000" y="3511296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资源配置与人员安排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77056"/>
            <a:ext cx="822960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00507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00D4A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050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43000" y="3986784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风险评估与商业化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43000" y="4261104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风险应对策略与商业路径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1097280"/>
            <a:ext cx="2286000" cy="3474720"/>
          </a:xfrm>
          <a:prstGeom prst="roundRect">
            <a:avLst>
              <a:gd name="adj" fmla="val 4000"/>
            </a:avLst>
          </a:prstGeom>
          <a:solidFill>
            <a:srgbClr val="111D33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280160"/>
            <a:ext cx="1920240" cy="31089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核心价值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从「出了错慢慢查」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到「出了错立刻告诉你为什么」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100% 可追溯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零幻觉推理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三视角呈现</a:t>
            </a:r>
            <a:endParaRPr lang="en-US" sz="14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项目简介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Tracero · 智循</a:t>
            </a:r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一款针对机器人和自动驾驶领域的自动化行为分析系统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当系统发生异常时，自动生成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可查证 · 可追溯 · 差异化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的行为解释与归因报告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291840"/>
            <a:ext cx="502920" cy="50292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🔧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开发视角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93192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代码路径 + 参数定义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精确到文件行号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320040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331720" y="3291840"/>
            <a:ext cx="502920" cy="50292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🧪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920240" y="3657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测试视角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11680" y="393192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模块级归因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一键导出 Bug 报告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3200400"/>
            <a:ext cx="1325880" cy="1554480"/>
          </a:xfrm>
          <a:prstGeom prst="roundRect">
            <a:avLst>
              <a:gd name="adj" fmla="val 5517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3291840"/>
            <a:ext cx="502920" cy="50292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79476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383280" y="3657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运营视角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474720" y="3931920"/>
            <a:ext cx="11430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自然语言摘要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自动附进工单</a:t>
            </a:r>
            <a:endParaRPr lang="en-US" sz="1000" dirty="0"/>
          </a:p>
        </p:txBody>
      </p:sp>
      <p:pic>
        <p:nvPicPr>
          <p:cNvPr id="22" name="Image 0" descr="c:\Users\RYQ\.trae-cn\work\6a269d53f16f7a4a5bd8b280\scenario_800x6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914400"/>
            <a:ext cx="3840480" cy="288036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4800600" y="868680"/>
            <a:ext cx="3931920" cy="2971800"/>
          </a:xfrm>
          <a:prstGeom prst="roundRect">
            <a:avLst>
              <a:gd name="adj" fmla="val 1846"/>
            </a:avLst>
          </a:prstGeom>
          <a:ln w="12700">
            <a:solidFill>
              <a:srgbClr val="00D4AA"/>
            </a:solidFill>
            <a:prstDash val="solid"/>
          </a:ln>
        </p:spPr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行业痛点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280160"/>
            <a:ext cx="502920" cy="502920"/>
          </a:xfrm>
          <a:prstGeom prst="ellipse">
            <a:avLst/>
          </a:prstGeom>
          <a:solidFill>
            <a:srgbClr val="1A2A4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数据捞取困难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71600" y="1600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从海量 ROS Bag 中手动定位事件数据，耗时数小时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280160"/>
            <a:ext cx="502920" cy="502920"/>
          </a:xfrm>
          <a:prstGeom prst="ellipse">
            <a:avLst/>
          </a:prstGeom>
          <a:solidFill>
            <a:srgbClr val="1A2A4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77840" y="1234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海捞针式排查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577840" y="16002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凭经验猜测原因，逐一排查感知/规划/控制模块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2608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3200400"/>
            <a:ext cx="502920" cy="502920"/>
          </a:xfrm>
          <a:prstGeom prst="ellipse">
            <a:avLst/>
          </a:prstGeom>
          <a:solidFill>
            <a:srgbClr val="1A2A4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7160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代码与数据割裂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3520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数据工具不懂代码，代码工具不懂运行时数据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3931920" cy="1645920"/>
          </a:xfrm>
          <a:prstGeom prst="roundRect">
            <a:avLst>
              <a:gd name="adj" fmla="val 4444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rgbClr val="1A2A4A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77840" y="31546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安全认证噩梦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77840" y="35204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26262 证据链靠人工准备，耗时数周至数月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5948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现有工具局限：Codex/Cursor 只看代码 ×  |  rosbag/Foxglove 只看数据 ×  |  通用 LLM 幻觉高 ×</a:t>
            </a:r>
            <a:endParaRPr lang="en-US" sz="1000" dirty="0"/>
          </a:p>
        </p:txBody>
      </p:sp>
      <p:sp>
        <p:nvSpPr>
          <p:cNvPr id="2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系统架构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5</a:t>
            </a:r>
            <a:endParaRPr lang="en-US" sz="900" dirty="0"/>
          </a:p>
        </p:txBody>
      </p:sp>
      <p:pic>
        <p:nvPicPr>
          <p:cNvPr id="6" name="Image 0" descr="c:\Users\RYQ\.trae-cn\work\6a269d53f16f7a4a5bd8b280\architecture_800x60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4572000" cy="3429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11480" y="868680"/>
            <a:ext cx="4663440" cy="3520440"/>
          </a:xfrm>
          <a:prstGeom prst="roundRect">
            <a:avLst>
              <a:gd name="adj" fmla="val 1558"/>
            </a:avLst>
          </a:prstGeom>
          <a:ln w="9525">
            <a:solidFill>
              <a:srgbClr val="00D4A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303520" y="91440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40680" y="10515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10" name="Text 7"/>
          <p:cNvSpPr/>
          <p:nvPr/>
        </p:nvSpPr>
        <p:spPr>
          <a:xfrm>
            <a:off x="544068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35040" y="987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实时异常感知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1280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 Agent 订阅消息流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环形缓冲区 + 异常检测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303520" y="187452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40680" y="201168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15" name="Text 12"/>
          <p:cNvSpPr/>
          <p:nvPr/>
        </p:nvSpPr>
        <p:spPr>
          <a:xfrm>
            <a:off x="5440680" y="2011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035040" y="1947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静态代码索引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035040" y="22402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离线解析源码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消息名→代码→参数映射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303520" y="283464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40680" y="29718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20" name="Text 17"/>
          <p:cNvSpPr/>
          <p:nvPr/>
        </p:nvSpPr>
        <p:spPr>
          <a:xfrm>
            <a:off x="5440680" y="2971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035040" y="29077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可信证据推理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3504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三段式结论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强制证据绑定机制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303520" y="3794760"/>
            <a:ext cx="3474720" cy="822960"/>
          </a:xfrm>
          <a:prstGeom prst="roundRect">
            <a:avLst>
              <a:gd name="adj" fmla="val 8889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440680" y="393192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00D4AA"/>
          </a:solidFill>
          <a:ln/>
        </p:spPr>
      </p:sp>
      <p:sp>
        <p:nvSpPr>
          <p:cNvPr id="25" name="Text 22"/>
          <p:cNvSpPr/>
          <p:nvPr/>
        </p:nvSpPr>
        <p:spPr>
          <a:xfrm>
            <a:off x="544068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035040" y="38679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多视角呈现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6035040" y="41605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开发/测试/运营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结构化报告导出</a:t>
            </a:r>
            <a:endParaRPr lang="en-US" sz="10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技术方案 — 四大核心模块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实时异常感知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与证据捕获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645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嵌入式 Agent 实时订阅 ROS 消息流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维护异常前后时间窗口环形缓冲区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自动检测急停、规划失败等异常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异常时自动打包证据推送后端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14300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静态代码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索引构建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64592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离线解析目标系统源码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建立语法索引与映射关系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消息名→处理代码→参数配置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支持毫秒级快速反查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97180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可信证据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推理引擎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运行时数据+代码索引+参数组装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生成三段式结论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强制证据绑定：无来源不输出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自动拒绝幻觉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71800"/>
            <a:ext cx="3931920" cy="1783080"/>
          </a:xfrm>
          <a:prstGeom prst="roundRect">
            <a:avLst>
              <a:gd name="adj" fmla="val 4103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多视角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结果呈现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361188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开发：完整代码路径与技术细节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测试：模块归因与任务分配建议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运营：自然语言摘要与应急预案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结构化报告导出对接 Jira</a:t>
            </a:r>
            <a:endParaRPr lang="en-US" sz="1100" dirty="0"/>
          </a:p>
        </p:txBody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核心创新点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972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零幻觉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02412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把「幻觉」关进笼子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45920" y="137160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没有证据就不能说话，Verifier 自动拒绝任何无来源的输出，确保每条结论可信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05740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0574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双层融合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198424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运行时数据 + 静态代码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23317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首次将「实际跑了什么」与「代码怎么写的」对齐，突破现有工具只能解释一半的局限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822960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01752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按需取证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45920" y="294436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自主推理取证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2918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自主判断证据是否充足，通过 MCP 工具按需补充，像真正的工程师助理一样工作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794760"/>
            <a:ext cx="8229600" cy="7315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977640"/>
            <a:ext cx="1005840" cy="320040"/>
          </a:xfrm>
          <a:prstGeom prst="roundRect">
            <a:avLst>
              <a:gd name="adj" fmla="val 11429"/>
            </a:avLst>
          </a:prstGeom>
          <a:solidFill>
            <a:srgbClr val="00D4AA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9776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权限分层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3904488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一份推理 · 三种视角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425196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后端生成完整推理，前端按角色实时过滤渲染，同一份数据满足开发、测试、运营三种需求</a:t>
            </a:r>
            <a:endParaRPr lang="en-US" sz="1200" dirty="0"/>
          </a:p>
        </p:txBody>
      </p:sp>
      <p:sp>
        <p:nvSpPr>
          <p:cNvPr id="2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研究计划 — 6个月五阶段推进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768096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2450592"/>
            <a:ext cx="320040" cy="320040"/>
          </a:xfrm>
          <a:prstGeom prst="ellipse">
            <a:avLst/>
          </a:prstGeom>
          <a:solidFill>
            <a:srgbClr val="00D4AA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W1-W3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1554480" cy="1645920"/>
          </a:xfrm>
          <a:prstGeom prst="roundRect">
            <a:avLst>
              <a:gd name="adj" fmla="val 4706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环境搭建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375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ROS2 环境、API 调通、前端选型、接口协议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0" y="2450592"/>
            <a:ext cx="320040" cy="320040"/>
          </a:xfrm>
          <a:prstGeom prst="ellipse">
            <a:avLst/>
          </a:prstGeom>
          <a:solidFill>
            <a:srgbClr val="00D4AA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028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4028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W4-W6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40280" y="2926080"/>
            <a:ext cx="1554480" cy="1645920"/>
          </a:xfrm>
          <a:prstGeom prst="roundRect">
            <a:avLst>
              <a:gd name="adj" fmla="val 4706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3172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端到端打通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33375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TC-01 场景、Agent v0.1、最小 API、三栏渲染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34840" y="2450592"/>
            <a:ext cx="320040" cy="320040"/>
          </a:xfrm>
          <a:prstGeom prst="ellipse">
            <a:avLst/>
          </a:prstGeom>
          <a:solidFill>
            <a:srgbClr val="00D4AA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3192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93192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W7-W16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31920" y="2926080"/>
            <a:ext cx="1554480" cy="1645920"/>
          </a:xfrm>
          <a:prstGeom prst="roundRect">
            <a:avLst>
              <a:gd name="adj" fmla="val 4706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23360" y="33375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静态分析、Evidence Builder、MCP 工具、Verifier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2450592"/>
            <a:ext cx="320040" cy="320040"/>
          </a:xfrm>
          <a:prstGeom prst="ellipse">
            <a:avLst/>
          </a:prstGeom>
          <a:solidFill>
            <a:srgbClr val="00D4AA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2356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W17-W26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23560" y="2926080"/>
            <a:ext cx="1554480" cy="1645920"/>
          </a:xfrm>
          <a:prstGeom prst="roundRect">
            <a:avLst>
              <a:gd name="adj" fmla="val 4706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扩展优化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715000" y="33375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场景全通、延迟 ≤60s、性能优化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818120" y="2450592"/>
            <a:ext cx="320040" cy="320040"/>
          </a:xfrm>
          <a:prstGeom prst="ellipse">
            <a:avLst/>
          </a:prstGeom>
          <a:solidFill>
            <a:srgbClr val="00D4AA"/>
          </a:solidFill>
          <a:ln w="254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1051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15200" y="128016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W27-W32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0" y="2926080"/>
            <a:ext cx="1554480" cy="1645920"/>
          </a:xfrm>
          <a:prstGeom prst="roundRect">
            <a:avLst>
              <a:gd name="adj" fmla="val 4706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06640" y="30175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演示准备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06640" y="333756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分钟 Demo、实车适配、答辩文档</a:t>
            </a:r>
            <a:endParaRPr lang="en-US" sz="1000" dirty="0"/>
          </a:p>
        </p:txBody>
      </p:sp>
      <p:sp>
        <p:nvSpPr>
          <p:cNvPr id="3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预期成果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1143000"/>
            <a:ext cx="502920" cy="50292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8" name="Text 6"/>
          <p:cNvSpPr/>
          <p:nvPr/>
        </p:nvSpPr>
        <p:spPr>
          <a:xfrm>
            <a:off x="146304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可运行原型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Gazebo 仿真环境完整闭环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异常触发→采集→推理→展示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97680" y="1143000"/>
            <a:ext cx="502920" cy="50292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91840" y="1554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 可追溯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每条结论绑定 evidence_id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可展开查看数据帧与代码行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32320" y="1143000"/>
            <a:ext cx="502920" cy="50292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1143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126480" y="1554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延迟 ≤60 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63640" y="187452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异常触发到完整报告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端到端控制在 1 分钟内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463040" y="3154680"/>
            <a:ext cx="502920" cy="50292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46304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👁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3566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三视角呈现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38862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开发/测试/运营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同一结果三种深度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91840" y="301752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297680" y="3154680"/>
            <a:ext cx="502920" cy="50292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297680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291840" y="3566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结构化导出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429000" y="388620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Bug 报告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一键对接 Jira / 飞书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6405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文档成果：接口协议文档 | 索引规范 | 测试场景库 TC-01~04 | 用户手册 | 演示脚本</a:t>
            </a:r>
            <a:endParaRPr lang="en-US" sz="10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硬件与预算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0" y="91440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00D4A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91440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总预算</a:t>
            </a:r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¥42,500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5303520" cy="36576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项目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金额 (¥)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高性能工作站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TurtleBot3 实车 + 配件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API 调用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 Plus 年费 (4账号)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云服务器 (1年)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存储/外设/配件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专利申请 + 查新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预留机动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2103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核心硬件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0" y="21031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¥19,000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943600" y="2377440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1A2A4A"/>
          </a:solidFill>
          <a:ln/>
        </p:spPr>
      </p:sp>
      <p:sp>
        <p:nvSpPr>
          <p:cNvPr id="12" name="Shape 9"/>
          <p:cNvSpPr/>
          <p:nvPr/>
        </p:nvSpPr>
        <p:spPr>
          <a:xfrm>
            <a:off x="5943600" y="2377440"/>
            <a:ext cx="1152144" cy="109728"/>
          </a:xfrm>
          <a:prstGeom prst="roundRect">
            <a:avLst>
              <a:gd name="adj" fmla="val 25000"/>
            </a:avLst>
          </a:prstGeom>
          <a:solidFill>
            <a:srgbClr val="00D4AA"/>
          </a:solidFill>
          <a:ln/>
        </p:spPr>
      </p:sp>
      <p:sp>
        <p:nvSpPr>
          <p:cNvPr id="13" name="Text 10"/>
          <p:cNvSpPr/>
          <p:nvPr/>
        </p:nvSpPr>
        <p:spPr>
          <a:xfrm>
            <a:off x="8595360" y="22860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2788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服务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0" y="27889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¥14,000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43600" y="3063240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1A2A4A"/>
          </a:solidFill>
          <a:ln/>
        </p:spPr>
      </p:sp>
      <p:sp>
        <p:nvSpPr>
          <p:cNvPr id="17" name="Shape 14"/>
          <p:cNvSpPr/>
          <p:nvPr/>
        </p:nvSpPr>
        <p:spPr>
          <a:xfrm>
            <a:off x="5943600" y="3063240"/>
            <a:ext cx="844906" cy="109728"/>
          </a:xfrm>
          <a:prstGeom prst="roundRect">
            <a:avLst>
              <a:gd name="adj" fmla="val 25000"/>
            </a:avLst>
          </a:prstGeom>
          <a:solidFill>
            <a:srgbClr val="00D4AA"/>
          </a:solidFill>
          <a:ln/>
        </p:spPr>
      </p:sp>
      <p:sp>
        <p:nvSpPr>
          <p:cNvPr id="18" name="Text 15"/>
          <p:cNvSpPr/>
          <p:nvPr/>
        </p:nvSpPr>
        <p:spPr>
          <a:xfrm>
            <a:off x="8595360" y="29718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943600" y="34747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基础设施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315200" y="3474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¥5,000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943600" y="3749040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1A2A4A"/>
          </a:solidFill>
          <a:ln/>
        </p:spPr>
      </p:sp>
      <p:sp>
        <p:nvSpPr>
          <p:cNvPr id="22" name="Shape 19"/>
          <p:cNvSpPr/>
          <p:nvPr/>
        </p:nvSpPr>
        <p:spPr>
          <a:xfrm>
            <a:off x="5943600" y="3749040"/>
            <a:ext cx="307238" cy="109728"/>
          </a:xfrm>
          <a:prstGeom prst="roundRect">
            <a:avLst>
              <a:gd name="adj" fmla="val 25000"/>
            </a:avLst>
          </a:prstGeom>
          <a:solidFill>
            <a:srgbClr val="00D4AA"/>
          </a:solidFill>
          <a:ln/>
        </p:spPr>
      </p:sp>
      <p:sp>
        <p:nvSpPr>
          <p:cNvPr id="23" name="Text 20"/>
          <p:cNvSpPr/>
          <p:nvPr/>
        </p:nvSpPr>
        <p:spPr>
          <a:xfrm>
            <a:off x="8595360" y="36576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43600" y="4160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知识产权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0" y="41605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¥4,500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943600" y="4434840"/>
            <a:ext cx="2560320" cy="109728"/>
          </a:xfrm>
          <a:prstGeom prst="roundRect">
            <a:avLst>
              <a:gd name="adj" fmla="val 25000"/>
            </a:avLst>
          </a:prstGeom>
          <a:solidFill>
            <a:srgbClr val="1A2A4A"/>
          </a:solidFill>
          <a:ln/>
        </p:spPr>
      </p:sp>
      <p:sp>
        <p:nvSpPr>
          <p:cNvPr id="27" name="Shape 24"/>
          <p:cNvSpPr/>
          <p:nvPr/>
        </p:nvSpPr>
        <p:spPr>
          <a:xfrm>
            <a:off x="5943600" y="4434840"/>
            <a:ext cx="256032" cy="109728"/>
          </a:xfrm>
          <a:prstGeom prst="roundRect">
            <a:avLst>
              <a:gd name="adj" fmla="val 25000"/>
            </a:avLst>
          </a:prstGeom>
          <a:solidFill>
            <a:srgbClr val="00D4AA"/>
          </a:solidFill>
          <a:ln/>
        </p:spPr>
      </p:sp>
      <p:sp>
        <p:nvSpPr>
          <p:cNvPr id="28" name="Text 25"/>
          <p:cNvSpPr/>
          <p:nvPr/>
        </p:nvSpPr>
        <p:spPr>
          <a:xfrm>
            <a:off x="8595360" y="434340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900" dirty="0"/>
          </a:p>
        </p:txBody>
      </p:sp>
      <p:sp>
        <p:nvSpPr>
          <p:cNvPr id="2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团队分工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05840" y="1143000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4A9E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143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机器人侧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任钺桐 / 吴辰威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1920240"/>
            <a:ext cx="1691640" cy="1371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57400"/>
            <a:ext cx="205740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仿真环境搭建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错误注入工具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Tracero Agent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静态代码分析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rosbridge 通信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0" y="1143000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00D4AA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143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后端核心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91840" y="1554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方元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749040" y="1920240"/>
            <a:ext cx="1691640" cy="1371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160" y="2057400"/>
            <a:ext cx="205740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推理引擎开发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Builder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调度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校验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服务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606040" cy="3657600"/>
          </a:xfrm>
          <a:prstGeom prst="roundRect">
            <a:avLst>
              <a:gd name="adj" fmla="val 2807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675120" y="1143000"/>
            <a:ext cx="1508760" cy="274320"/>
          </a:xfrm>
          <a:prstGeom prst="roundRect">
            <a:avLst>
              <a:gd name="adj" fmla="val 13333"/>
            </a:avLst>
          </a:prstGeom>
          <a:solidFill>
            <a:srgbClr val="FFB347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0" y="114300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前端体验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55448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任云琪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83680" y="1920240"/>
            <a:ext cx="1691640" cy="1371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2057400"/>
            <a:ext cx="2057400" cy="2377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三视角界面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追问系统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实时状态接入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报告导出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演示效果优化</a:t>
            </a:r>
            <a:endParaRPr lang="en-US" sz="1100" dirty="0"/>
          </a:p>
        </p:txBody>
      </p:sp>
      <p:sp>
        <p:nvSpPr>
          <p:cNvPr id="2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风险评估与应对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12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914400"/>
                <a:gridCol w="2560320"/>
                <a:gridCol w="731520"/>
                <a:gridCol w="40233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风险类别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风险描述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概率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应对措施</a:t>
                      </a:r>
                      <a:endParaRPr lang="en-US" sz="10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tree-sitter 解析复杂 C++ 失败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8B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libclang 备选；先保证核心函数解析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输出逻辑不准确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8B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语义相关性校验；优化 Few-shot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项目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仿真环境 GPU 要求高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8B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换用 CARLA 或轻量 Gazebo 场景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集成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工具上下文超出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D4A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8B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截断摘要，只返回最相关代码片段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产品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运营视角报告不够自然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B3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A8B8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专用极简 Prompt 模板；人工评估迭代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4119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A2A4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4577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核心策略：所有中/高风险项均有明确备选方案，技术路线采用「主方案 + 降级方案」双保险设计</a:t>
            </a:r>
            <a:endParaRPr lang="en-US" sz="1100" dirty="0"/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5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商业化路径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1371600" cy="228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0" y="482346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8B9DC3"/>
                </a:solidFill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1188720"/>
            <a:ext cx="1143000" cy="320040"/>
          </a:xfrm>
          <a:prstGeom prst="roundRect">
            <a:avLst>
              <a:gd name="adj" fmla="val 11429"/>
            </a:avLst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1887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短期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90672" y="233172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00D4AA"/>
                </a:solidFill>
              </a:rPr>
              <a:t>▶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 模式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88720" y="2148840"/>
            <a:ext cx="1143000" cy="1371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317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面向自动驾驶和机器人公司，按年收费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核心价值：将数小时问题定位缩短至 1 分钟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0" y="1188720"/>
            <a:ext cx="1143000" cy="320040"/>
          </a:xfrm>
          <a:prstGeom prst="roundRect">
            <a:avLst>
              <a:gd name="adj" fmla="val 11429"/>
            </a:avLst>
          </a:prstGeom>
          <a:solidFill>
            <a:srgbClr val="4A9EFF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11887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25312" y="2331720"/>
            <a:ext cx="201168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EFF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1691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认证增强模块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023360" y="2148840"/>
            <a:ext cx="1143000" cy="13716"/>
          </a:xfrm>
          <a:prstGeom prst="rect">
            <a:avLst/>
          </a:prstGeom>
          <a:solidFill>
            <a:srgbClr val="4A9E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23317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对接 ISO 26262 / PAS 8800 / UL 4600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自动将证据链映射到认证条款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606040" cy="3200400"/>
          </a:xfrm>
          <a:prstGeom prst="roundRect">
            <a:avLst>
              <a:gd name="adj" fmla="val 2807"/>
            </a:avLst>
          </a:prstGeom>
          <a:solidFill>
            <a:srgbClr val="111D33"/>
          </a:solidFill>
          <a:ln w="9525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0" y="1188720"/>
            <a:ext cx="1143000" cy="320040"/>
          </a:xfrm>
          <a:prstGeom prst="roundRect">
            <a:avLst>
              <a:gd name="adj" fmla="val 11429"/>
            </a:avLst>
          </a:prstGeom>
          <a:solidFill>
            <a:srgbClr val="FFB347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1887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长期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26480" y="16916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工具集成生态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858000" y="2148840"/>
            <a:ext cx="1143000" cy="13716"/>
          </a:xfrm>
          <a:prstGeom prst="rect">
            <a:avLst/>
          </a:prstGeom>
          <a:solidFill>
            <a:srgbClr val="FFB347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23317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与传统测试工具集成，开放 MCP 接口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8B9D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建立「归因分析市场」生态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4119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A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4577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8B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目标市场：自动驾驶公司 + 机器人企业  |  核心刚需：异常归因效率提升 100 倍以上</a:t>
            </a:r>
            <a:endParaRPr lang="en-US" sz="1100" dirty="0"/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RYQ\.trae-cn\work\6a269d53f16f7a4a5bd8b280\cover_bg_1920x108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628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200400" y="182880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感谢聆听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Tracero · 智循 — 让每条结论都有据可查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38328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Tracero · 智循 — 项目计划书</dc:title>
  <dc:subject>PptxGenJS Presentation</dc:subject>
  <dc:creator>Tracero Team</dc:creator>
  <cp:lastModifiedBy>Tracero Team</cp:lastModifiedBy>
  <cp:revision>1</cp:revision>
  <dcterms:created xsi:type="dcterms:W3CDTF">2026-06-08T10:58:30Z</dcterms:created>
  <dcterms:modified xsi:type="dcterms:W3CDTF">2026-06-08T10:58:30Z</dcterms:modified>
</cp:coreProperties>
</file>